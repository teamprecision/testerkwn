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2331720"/>
            <a:ext cx="12024360" cy="6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869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 dirty="0">
                <a:solidFill>
                  <a:srgbClr val="FFFFFF"/>
                </a:solidFill>
                <a:latin typeface="Calibri"/>
              </a:rPr>
              <a:t>Camera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dirty="0">
                <a:solidFill>
                  <a:srgbClr val="00B4D8"/>
                </a:solidFill>
                <a:latin typeface="Calibri"/>
              </a:rPr>
              <a:t>Operating Modes &amp; Detection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  <a:latin typeface="Calibri"/>
              </a:rPr>
              <a:t>Technical Overview  |  5 Detection Modes  |  Engineering 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52160"/>
            <a:ext cx="2194560" cy="65836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5852160"/>
            <a:ext cx="219456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585216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Read 2D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5852160"/>
            <a:ext cx="2194560" cy="658368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585216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Compare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59" y="5852160"/>
            <a:ext cx="2194560" cy="658368"/>
          </a:xfrm>
          <a:prstGeom prst="rect">
            <a:avLst/>
          </a:prstGeom>
          <a:solidFill>
            <a:srgbClr val="E5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59" y="585216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Check 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5852160"/>
            <a:ext cx="219456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0" y="585216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Blink 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camera_show application  |  Engineering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94360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63500" cy="5303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&gt; Windows Forms C# application (.NET 4.8)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&gt; Emgu CV  -  OpenCV wrapper for image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426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&gt; ZXing  -  Barcode / QR code decoding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009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  &gt; DirectShow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VideoCapture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 -  live camera at ~10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93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  <a:latin typeface="Calibri"/>
              </a:rPr>
              <a:t>  &gt; ROI-based processing  -  user-drawn rectangle per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17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&gt; CSV config files  -  per-step camera &amp; mode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760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&gt; Result: test_head_{head}_result.txt  -&gt;  PASS / FAIL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188720"/>
            <a:ext cx="5394960" cy="5303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1188720"/>
            <a:ext cx="2743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1188720"/>
            <a:ext cx="2670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Mode Summary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92240" y="1600200"/>
          <a:ext cx="539496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Live camera view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Display only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Read2D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Barcode / QR decode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Decoded text + PASS/FAIL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Compare Image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Template matching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PASS / FAIL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Check LED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Sustained color detect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PASS / FAIL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Blink LED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Frequency measurement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Freq (Hz) + PASS/FAIL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 1: Normal — Live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MODE 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474720" cy="5212080"/>
          </a:xfrm>
          <a:prstGeom prst="rect">
            <a:avLst/>
          </a:prstGeom>
          <a:solidFill>
            <a:srgbClr val="1A1A2E"/>
          </a:solidFill>
          <a:ln w="15240">
            <a:solidFill>
              <a:srgbClr val="0F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Calibri"/>
              </a:rPr>
              <a:t>DISPLAY
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832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  <a:latin typeface="Calibri"/>
              </a:rPr>
              <a:t>No detection
No analysis
No result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234440"/>
            <a:ext cx="7863840" cy="5212080"/>
          </a:xfrm>
          <a:prstGeom prst="rect">
            <a:avLst/>
          </a:prstGeom>
          <a:solidFill>
            <a:srgbClr val="F8FAFC"/>
          </a:solidFill>
          <a:ln w="1524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1371600"/>
            <a:ext cx="29260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33672" y="1371600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Detection Principle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945640"/>
            <a:ext cx="384048" cy="38404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9456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9202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Acquire frame from camera (</a:t>
            </a:r>
            <a:r>
              <a:rPr sz="1300" b="0" i="0" dirty="0" err="1">
                <a:solidFill>
                  <a:srgbClr val="1A1A2E"/>
                </a:solidFill>
                <a:latin typeface="Calibri"/>
              </a:rPr>
              <a:t>VideoCapture</a:t>
            </a:r>
            <a:r>
              <a:rPr sz="1300" b="0" i="0" dirty="0">
                <a:solidFill>
                  <a:srgbClr val="1A1A2E"/>
                </a:solidFill>
                <a:latin typeface="Calibri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604008"/>
            <a:ext cx="384048" cy="38404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6040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578608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Render frame to PictureBox UI control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262376"/>
            <a:ext cx="384048" cy="384048"/>
          </a:xfrm>
          <a:prstGeom prst="rect">
            <a:avLst/>
          </a:prstGeom>
          <a:solidFill>
            <a:srgbClr val="E5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60520" y="32623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236976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Check for black frames: mean BGR &lt; 8.0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3920744"/>
            <a:ext cx="38404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39207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895344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5 consecutive black frames -&gt; reopen camera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4579112"/>
            <a:ext cx="384048" cy="38404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60520" y="45791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55371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Sleep 100 ms -&gt; repeat at ~10 fps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5349240"/>
            <a:ext cx="7498079" cy="640080"/>
          </a:xfrm>
          <a:prstGeom prst="rect">
            <a:avLst/>
          </a:prstGeom>
          <a:solidFill>
            <a:srgbClr val="E8F0FF"/>
          </a:solidFill>
          <a:ln w="10160">
            <a:solidFill>
              <a:srgbClr val="0F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60" y="53766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Use case: Operator visual inspection during setup  |  Camera health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 2: Read2D — Barcode / QR Code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MODE 2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Purpose: Detect and decode 1D/2D barcodes within a defined ROI using Canny edges + ZXing with rotation-invariant sweep.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691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F3A7B"/>
                </a:solidFill>
                <a:latin typeface="Calibri"/>
              </a:rPr>
              <a:t>1. Acquisition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717040"/>
            <a:ext cx="2926080" cy="594360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17170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Acquire
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3A7B"/>
                </a:solidFill>
                <a:latin typeface="Calibri"/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717040"/>
            <a:ext cx="2926080" cy="594360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7170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Rotate by
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AdjustDegree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4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3A7B"/>
                </a:solidFill>
                <a:latin typeface="Calibri"/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1717040"/>
            <a:ext cx="2926080" cy="594360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17170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Crop
to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2670048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F3A7B"/>
                </a:solidFill>
                <a:latin typeface="Calibri"/>
              </a:rPr>
              <a:t>2. Edge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2695448"/>
            <a:ext cx="29260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65960" y="269544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Grayscale +
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670048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3A7B"/>
                </a:solidFill>
                <a:latin typeface="Calibri"/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695448"/>
            <a:ext cx="29260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0" y="269544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Canny
Edges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70048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3A7B"/>
                </a:solidFill>
                <a:latin typeface="Calibri"/>
              </a:rP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2695448"/>
            <a:ext cx="29260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41080" y="269544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Find
Contours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" y="3648456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F3A7B"/>
                </a:solidFill>
                <a:latin typeface="Calibri"/>
              </a:rPr>
              <a:t>3. Decode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3673856"/>
            <a:ext cx="2926080" cy="59436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65960" y="367385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ZXing Pass 1
(full ROI)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648456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3A7B"/>
                </a:solidFill>
                <a:latin typeface="Calibri"/>
              </a:rPr>
              <a:t>-&gt;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3673856"/>
            <a:ext cx="2926080" cy="59436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0" y="367385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ZXing Pass 2
(rect+rotate)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648456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3A7B"/>
                </a:solidFill>
                <a:latin typeface="Calibri"/>
              </a:rPr>
              <a:t>-&gt;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3673856"/>
            <a:ext cx="2926080" cy="59436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41080" y="367385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Stop on
success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" y="4626864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F3A7B"/>
                </a:solidFill>
                <a:latin typeface="Calibri"/>
              </a:rPr>
              <a:t>4. 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65960" y="4652264"/>
            <a:ext cx="2926080" cy="594360"/>
          </a:xfrm>
          <a:prstGeom prst="rect">
            <a:avLst/>
          </a:prstGeom>
          <a:solidFill>
            <a:srgbClr val="E5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65960" y="465226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Check length
== DigitSn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626864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3A7B"/>
                </a:solidFill>
                <a:latin typeface="Calibri"/>
              </a:rPr>
              <a:t>-&gt;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4652264"/>
            <a:ext cx="2926080" cy="594360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0" y="465226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PASS -&gt;
write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626864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F3A7B"/>
                </a:solidFill>
                <a:latin typeface="Calibri"/>
              </a:rPr>
              <a:t>-&gt;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41080" y="4652264"/>
            <a:ext cx="292608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41080" y="465226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FAIL -&gt;
AutoScale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943600"/>
            <a:ext cx="11612880" cy="621792"/>
          </a:xfrm>
          <a:prstGeom prst="rect">
            <a:avLst/>
          </a:prstGeom>
          <a:solidFill>
            <a:srgbClr val="FFF3CD"/>
          </a:solidFill>
          <a:ln w="12700">
            <a:solidFill>
              <a:srgbClr val="E5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943600"/>
            <a:ext cx="1143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Timeout (default 10,000 ms): elapsed &gt;= timeout -&gt; write FAIL and exit.  AutoScale shifts ROI in expanding spiral (+-1, +-2, +-3 px) on repeated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 2: Read2D — Algorithm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530352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310896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25880"/>
            <a:ext cx="3035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Rectangle Detection (Canny)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o  Grayscale  -&gt;  Binary threshold @ 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o  Canny edges: high=180, low=120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o  FindContours  (RetrType.List)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o  ApproxPolyDP  epsilon = arc_length x 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o  Keep: area &gt; 50 px  AND  exactly 4 vertices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o  Validate: all 4 exterior angles = 70-100 deg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1A1A2E"/>
          </a:solidFill>
          <a:ln w="15240">
            <a:solidFill>
              <a:srgbClr val="0F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2743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1325880"/>
            <a:ext cx="2670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ZXing Decode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8288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Pass 1 - Full ROI direct decode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ZXing attempts decode on full cropped image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If success -&gt; validate length -&gt; done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Pass 2 - Rotation sweep per rectangle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For each detected rectangle: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Rotate: 0, 5, 10, ..., 85 degrees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ZXing decode at each angle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Stop on first successful decode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Validation - DigitSn check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Decoded length must equal DigitSn (default 13)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On FAIL: AutoScale spiral ROI shift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 3: Compare Image — Template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MODE 3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Purpose: Verify that a reference image is visually present in the live frame using KAZE feature matching and homography.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42440"/>
            <a:ext cx="76200" cy="38404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1  Acquire frame  -&gt;  Crop to ROI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36800"/>
            <a:ext cx="76200" cy="38404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2  Load reference image from disk (Image1.png, Image2.png ...)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31160"/>
            <a:ext cx="762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3  KAZE feature detection &amp; description on both 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5520"/>
            <a:ext cx="762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4  Flann KNN matching (k=2)  +  Lowe's ratio test (0.80)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9880"/>
            <a:ext cx="76200" cy="384048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06908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5  VoteForSizeAndOrientation  (max deviation 20 deg)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14240"/>
            <a:ext cx="76200" cy="384048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66344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6  Compute homography  -&gt;  objectFound = true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08600"/>
            <a:ext cx="76200" cy="384048"/>
          </a:xfrm>
          <a:prstGeom prst="rect">
            <a:avLst/>
          </a:prstGeom>
          <a:solidFill>
            <a:srgbClr val="E5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25780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7  Advance NumberCompare  -&gt;  load next image ROI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902960"/>
            <a:ext cx="762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60"/>
            <a:ext cx="6583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8  No more ref images  -&gt;  write PASS and exit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1234440"/>
            <a:ext cx="4389120" cy="521208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35240" y="1371600"/>
            <a:ext cx="23774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08392" y="137160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Sequence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7830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Each step can have multiple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reference images.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NumberCompare counter tracks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the current image index.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Image1.png -&gt; check -&gt; advance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Image2.png -&gt; check -&gt; advance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Image3.png not found -&gt; PASS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(no more images = all matched)</a:t>
            </a:r>
          </a:p>
          <a:p>
            <a:endParaRPr sz="1100" b="0">
              <a:solidFill>
                <a:srgbClr val="FFFFFF"/>
              </a:solidFill>
              <a:latin typeface="Calibri"/>
            </a:endParaRP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Each image has its own ROI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coordinate file.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On object NOT found: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ReAdjust restores camera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baseline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 3: Compare Image — KAZE &amp; Homography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760720" cy="530352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8346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25880"/>
            <a:ext cx="2761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KAZE Feature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KAZE Detector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Scale-space detector, robust for textured objects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Detects keypoints in model AND observed image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Computes binary descriptors for each keypoint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Flann-based Matcher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LinearIndexParams + SearchParams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KNN matching: k = 2 nearest neighbors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Lowe's Ratio Test  (threshold = 0.80)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Keep match if: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best_dist  &lt;  0.80 x second_best_dist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Discards ambiguous / weak matches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VoteForSizeAndOrientation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Discard if scale/rotation deviation &gt; 20 deg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577840" cy="5303520"/>
          </a:xfrm>
          <a:prstGeom prst="rect">
            <a:avLst/>
          </a:prstGeom>
          <a:solidFill>
            <a:srgbClr val="1A1A2E"/>
          </a:solidFill>
          <a:ln w="15240">
            <a:solidFill>
              <a:srgbClr val="0F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46520" y="1325880"/>
            <a:ext cx="2743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325880"/>
            <a:ext cx="2670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Homography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Minimum 4 unique matches required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GetHomographyMatrixFromMatchedFeatures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Reprojection threshold: 2 pixels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Valid homography -&gt; objectFound = true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46520" y="333756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F3A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F3A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Lowe ratio test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Min matches (homography)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Reprojection threshold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 px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Max orientation deviation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20 deg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 4: Check LED — Sustained Color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MODE 4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Purpose: Verify that a target LED color is present in the ROI for a minimum continuous duration.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6675120" cy="4892040"/>
          </a:xfrm>
          <a:prstGeom prst="rect">
            <a:avLst/>
          </a:prstGeom>
          <a:solidFill>
            <a:srgbClr val="F8FAFC"/>
          </a:solidFill>
          <a:ln w="1524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2743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737360"/>
            <a:ext cx="2670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Detection Principle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3780"/>
            <a:ext cx="63500" cy="329184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Acquire frame  -&gt;  Convert to BGR &amp; HSV  -&gt;  Crop to ROI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79268"/>
            <a:ext cx="6350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715768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Apply color range mask (user-configurable):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54756"/>
            <a:ext cx="6350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191256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  BGR mode:  image.InRange(BgrLow, BgrHigh)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730244"/>
            <a:ext cx="6350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666744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  HSV mode:  image.InRange(HsvLow, HsvHigh)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05732"/>
            <a:ext cx="63500" cy="329184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142232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Count non-zero pixels in mask  -&gt;  redpixels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681220"/>
            <a:ext cx="63500" cy="329184"/>
          </a:xfrm>
          <a:prstGeom prst="rect">
            <a:avLst/>
          </a:prstGeom>
          <a:solidFill>
            <a:srgbClr val="E5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617720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If redpixels &gt;= HsvMask  -&gt;  check elapsed timer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156708"/>
            <a:ext cx="63500" cy="329184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093208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  If timer &gt;= HsvTimeout  -&gt;  PASS (color sustained)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632196"/>
            <a:ext cx="63500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5568696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    Else  -&gt;  reset timer (color must be continuous)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107684"/>
            <a:ext cx="63500" cy="329184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6044184"/>
            <a:ext cx="6217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Advance NumberCheckLed  -&gt;  load next LED step ROI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1600200"/>
            <a:ext cx="4663440" cy="2286000"/>
          </a:xfrm>
          <a:prstGeom prst="rect">
            <a:avLst/>
          </a:prstGeom>
          <a:solidFill>
            <a:srgbClr val="1A1A2E"/>
          </a:solidFill>
          <a:ln w="15240">
            <a:solidFill>
              <a:srgbClr val="E5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60920" y="1737360"/>
            <a:ext cx="23774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34072" y="173736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Key Parameters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7223760" y="2148840"/>
          <a:ext cx="4663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E5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HsvMask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10 px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Min pixels for 'color on'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HsvTimeout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100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Min continuous duration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Color space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BGR or HSV (user set)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7223760" y="4069080"/>
            <a:ext cx="4663440" cy="2377440"/>
          </a:xfrm>
          <a:prstGeom prst="rect">
            <a:avLst/>
          </a:prstGeom>
          <a:solidFill>
            <a:srgbClr val="1A1A2E"/>
          </a:solidFill>
          <a:ln w="15240">
            <a:solidFill>
              <a:srgbClr val="2D9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60920" y="4206240"/>
            <a:ext cx="23774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34072" y="420624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Persistence Logic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Color detected continuously: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Timer counts up  -&gt;  &gt;= HsvTimeout  -&gt;  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394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8888"/>
                </a:solidFill>
                <a:latin typeface="Calibri"/>
              </a:rPr>
              <a:t>Color drops  -&gt;  Timer RESETS  -&gt;  must restart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 5: Blink LED — Frequency &amp; Duty Cycle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Calibri"/>
              </a:rPr>
              <a:t>MODE 5 / 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0" cy="5303520"/>
          </a:xfrm>
          <a:prstGeom prst="rect">
            <a:avLst/>
          </a:prstGeom>
          <a:solidFill>
            <a:srgbClr val="1A1A2E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30175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325880"/>
            <a:ext cx="2944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State Machine (per frame)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Apply color mask  (same as Check LED)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mask = (redpixels &gt;= HsvMask)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On color ON (mask=true):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TimeHigh = StopWatchHigh.Elapsed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StopWatchLow.Restart()</a:t>
            </a:r>
          </a:p>
          <a:p>
            <a:endParaRPr sz="1100" b="0">
              <a:solidFill>
                <a:srgbClr val="FFFFFF"/>
              </a:solidFill>
              <a:latin typeface="Calibri"/>
            </a:endParaRP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On color OFF (mask=false):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TimeLow = StopWatchLow.Elapsed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StopWatchHigh.Restart()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TricCal = true  (flag next calc)</a:t>
            </a:r>
          </a:p>
          <a:p>
            <a:endParaRPr sz="1100" b="0">
              <a:solidFill>
                <a:srgbClr val="FFFFFF"/>
              </a:solidFill>
              <a:latin typeface="Calibri"/>
            </a:endParaRP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On transition OFF-&gt;ON  (TricCal):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Period  = TimeLow + TimeHigh  (ms)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FreqSup += 1 / (Period / 1000)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DutySup += TimeHigh / Period x 100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Counter++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5852160" cy="5303520"/>
          </a:xfrm>
          <a:prstGeom prst="rect">
            <a:avLst/>
          </a:prstGeom>
          <a:solidFill>
            <a:srgbClr val="1A1A2E"/>
          </a:solidFill>
          <a:ln w="15240">
            <a:solidFill>
              <a:srgbClr val="E5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36576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1325880"/>
            <a:ext cx="3584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Formulas &amp; Measurement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5486400" cy="621792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Frequency:  f = 1 / ((TimeLow + TimeHigh) / 1000)   [Hz]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697480"/>
            <a:ext cx="5486400" cy="621792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269748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Duty Cycle:  D = TimeHigh / (TimeLow + TimeHigh) x 100   [%]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5204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Measurement Window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Min 2000 ms accumulated (TimeAckMin)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countSup = 2000 / (TimeLow + TimeHigh)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CounterMax = Map(countSup, 0-2000, 1-1200)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Accumulate FreqSup and DutySup over CounterMax samples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300" b="1">
                <a:solidFill>
                  <a:srgbClr val="FFFFFF"/>
                </a:solidFill>
                <a:latin typeface="Calibri"/>
              </a:rPr>
              <a:t>Final Result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Frequency = FreqSup / Counter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Duty = DutySup / Counter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  -&gt; pass to 3-sample stability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 5: Blink LED — Stability Validation &amp;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149840" y="22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MODE 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6858000" cy="5212080"/>
          </a:xfrm>
          <a:prstGeom prst="rect">
            <a:avLst/>
          </a:prstGeom>
          <a:solidFill>
            <a:srgbClr val="F8FAFC"/>
          </a:solidFill>
          <a:ln w="1524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371600"/>
            <a:ext cx="3584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3-Sample Rolling Stability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83740"/>
            <a:ext cx="76200" cy="38404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Maintain rolling buffer of last 3 frequency measurements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578100"/>
            <a:ext cx="76200" cy="38404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Compute average of the 3 samples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72460"/>
            <a:ext cx="76200" cy="38404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For each sample:  |avg - sample| / avg x 100  =  % deviation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66820"/>
            <a:ext cx="76200" cy="384048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If ALL 3 samples &lt;= 5.0%  -&gt;  FlagResult = true  -&gt; 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361180"/>
            <a:ext cx="762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If ANY sample &gt; 5.0%  -&gt;  FlagResult = false  -&gt;  measure again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955540"/>
            <a:ext cx="76200" cy="384048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892040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Write frequency (4 decimal places Hz) + PASS to result 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166360"/>
            <a:ext cx="6400800" cy="1005840"/>
          </a:xfrm>
          <a:prstGeom prst="rect">
            <a:avLst/>
          </a:prstGeom>
          <a:solidFill>
            <a:srgbClr val="E8F4FF"/>
          </a:solidFill>
          <a:ln w="12700">
            <a:solidFill>
              <a:srgbClr val="0F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193792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Example: samples = [49.98, 50.01, 50.02]  avg = 50.003
deviations: 0.046%, 0.014%, 0.034%  -&gt;  all &lt; 5%  -&gt;  FlagResult = true  -&gt; 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234440"/>
            <a:ext cx="4480560" cy="2926080"/>
          </a:xfrm>
          <a:prstGeom prst="rect">
            <a:avLst/>
          </a:prstGeom>
          <a:solidFill>
            <a:srgbClr val="1A1A2E"/>
          </a:solidFill>
          <a:ln w="15240">
            <a:solidFill>
              <a:srgbClr val="E5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43800" y="1371600"/>
            <a:ext cx="23774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16952" y="1371600"/>
            <a:ext cx="2304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Key Thresholds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406640" y="1828800"/>
          <a:ext cx="4480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E58C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E5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TimeAckMin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2000 ms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Min measurement window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MaxDiffPercent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5.0 %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Max deviation (3 samples)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HsvMask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10 px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Min pixels for color on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CounterMax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1-1200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Dynamically scaled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7406640" y="4343400"/>
            <a:ext cx="4480560" cy="2103120"/>
          </a:xfrm>
          <a:prstGeom prst="rect">
            <a:avLst/>
          </a:prstGeom>
          <a:solidFill>
            <a:srgbClr val="1A1A2E"/>
          </a:solidFill>
          <a:ln w="15240">
            <a:solidFill>
              <a:srgbClr val="2D9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43800" y="4480560"/>
            <a:ext cx="16459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16952" y="4480560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89204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Frequency: 4 decimal places (Hz)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Duty Cycle: 4 decimal places (%)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Pixel count shown on overlay</a:t>
            </a:r>
          </a:p>
          <a:p>
            <a:endParaRPr sz="1200" b="0">
              <a:solidFill>
                <a:srgbClr val="FFFFFF"/>
              </a:solidFill>
              <a:latin typeface="Calibri"/>
            </a:endParaRPr>
          </a:p>
          <a:p>
            <a:r>
              <a:rPr sz="1200" b="1">
                <a:solidFill>
                  <a:srgbClr val="FFFFFF"/>
                </a:solidFill>
                <a:latin typeface="Calibri"/>
              </a:rPr>
              <a:t>File format:</a:t>
            </a:r>
          </a:p>
          <a:p>
            <a:r>
              <a:rPr sz="1100" b="0">
                <a:solidFill>
                  <a:srgbClr val="FFFFFF"/>
                </a:solidFill>
                <a:latin typeface="Calibri"/>
              </a:rPr>
              <a:t>  {frequency_value}\r\nPASS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Detection Principles — Mode Comparison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34440"/>
          <a:ext cx="1161288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Core Algorithm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Key Inputs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Key Thresholds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Frame display only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Live video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Visual only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Read2D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Canny edges + ZXing</a:t>
                      </a:r>
                    </a:p>
                    <a:p>
                      <a:r>
                        <a:t>+ rotation sweep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ROI, DigitSn,</a:t>
                      </a:r>
                    </a:p>
                    <a:p>
                      <a:r>
                        <a:t>AdjustDegree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Canny 180/120</a:t>
                      </a:r>
                    </a:p>
                    <a:p>
                      <a:r>
                        <a:t>Angle 70-100 deg</a:t>
                      </a:r>
                    </a:p>
                    <a:p>
                      <a:r>
                        <a:t>Area &gt; 50 px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Decoded text</a:t>
                      </a:r>
                    </a:p>
                    <a:p>
                      <a:r>
                        <a:t>PASS/FAIL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Compare</a:t>
                      </a:r>
                    </a:p>
                    <a:p>
                      <a:r>
                        <a:t>Image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KAZE + Flann KNN</a:t>
                      </a:r>
                    </a:p>
                    <a:p>
                      <a:r>
                        <a:t>+ Homography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ROI,</a:t>
                      </a:r>
                    </a:p>
                    <a:p>
                      <a:r>
                        <a:t>Ref images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Lowe 0.80</a:t>
                      </a:r>
                    </a:p>
                    <a:p>
                      <a:r>
                        <a:t>Min 4 matches</a:t>
                      </a:r>
                    </a:p>
                    <a:p>
                      <a:r>
                        <a:t>Reproj 2 px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Object found</a:t>
                      </a:r>
                    </a:p>
                    <a:p>
                      <a:r>
                        <a:t>(binary)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Check LED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Color mask BGR/HSV</a:t>
                      </a:r>
                    </a:p>
                    <a:p>
                      <a:r>
                        <a:t>+ persistence timer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ROI, color range</a:t>
                      </a:r>
                    </a:p>
                    <a:p>
                      <a:r>
                        <a:t>HsvMask, HsvTimeout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&gt;= 10 px</a:t>
                      </a:r>
                    </a:p>
                    <a:p>
                      <a:r>
                        <a:t>&gt;= 100 ms sustained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Color detected</a:t>
                      </a:r>
                    </a:p>
                    <a:p>
                      <a:r>
                        <a:t>(binary)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Blink LED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State machine +</a:t>
                      </a:r>
                    </a:p>
                    <a:p>
                      <a:r>
                        <a:t>freq averaging +</a:t>
                      </a:r>
                    </a:p>
                    <a:p>
                      <a:r>
                        <a:t>stability check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ROI, color range</a:t>
                      </a:r>
                    </a:p>
                    <a:p>
                      <a:r>
                        <a:t>HsvMask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+-5% stability</a:t>
                      </a:r>
                    </a:p>
                    <a:p>
                      <a:r>
                        <a:t>2000 ms window</a:t>
                      </a:r>
                    </a:p>
                    <a:p>
                      <a:r>
                        <a:t>3-sample rolling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Freq (Hz)</a:t>
                      </a:r>
                    </a:p>
                    <a:p>
                      <a:r>
                        <a:t>Duty (%)</a:t>
                      </a:r>
                    </a:p>
                    <a:p>
                      <a:r>
                        <a:t>PASS/FAIL</a:t>
                      </a:r>
                    </a:p>
                  </a:txBody>
                  <a:tcPr>
                    <a:solidFill>
                      <a:srgbClr val="1E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Shared Infrastructure Across All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669280" cy="2560320"/>
          </a:xfrm>
          <a:prstGeom prst="rect">
            <a:avLst/>
          </a:prstGeom>
          <a:solidFill>
            <a:srgbClr val="F8FAFC"/>
          </a:solidFill>
          <a:ln w="15240">
            <a:solidFill>
              <a:srgbClr val="0F3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384048"/>
          </a:xfrm>
          <a:prstGeom prst="rect">
            <a:avLst/>
          </a:prstGeom>
          <a:solidFill>
            <a:srgbClr val="0F3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234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ROI — Region of Interest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37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User draws rectangle via mouse drag on live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214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Coordinates saved per step to Rectangle*.txt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0545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AutoScale: spiral shift +-1-3 px on repeated decode failure (Read2D)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669280" cy="2560320"/>
          </a:xfrm>
          <a:prstGeom prst="rect">
            <a:avLst/>
          </a:prstGeom>
          <a:solidFill>
            <a:srgbClr val="F8FAFC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6692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234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Camera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Settings stored in CSV files  -  one per test step /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214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Configurable: zoom, pan, tilt, contrast, brightness,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0545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  saturation, sharpness, gain, focus,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950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Skip list: opt-out per property for problematic cameras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5669280" cy="2560320"/>
          </a:xfrm>
          <a:prstGeom prst="rect">
            <a:avLst/>
          </a:prstGeom>
          <a:solidFill>
            <a:srgbClr val="F8FAFC"/>
          </a:solidFill>
          <a:ln w="15240">
            <a:solidFill>
              <a:srgbClr val="2D9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4206240"/>
            <a:ext cx="5669280" cy="384048"/>
          </a:xfrm>
          <a:prstGeom prst="rect">
            <a:avLst/>
          </a:prstGeom>
          <a:solidFill>
            <a:srgbClr val="2D9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42062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Result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70915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File: test_head_{head}_result.txt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09320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Format:  {result_value}\r\n{PASS|FAIL}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5477255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Timeout (default 10,000 ms) -&gt; writes FAIL on expiry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861303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Retry: EditValueCamDiv3 allows up to 3 retries before FAIL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206240"/>
            <a:ext cx="5669280" cy="25603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206240"/>
            <a:ext cx="5669280" cy="384048"/>
          </a:xfrm>
          <a:prstGeom prst="rect">
            <a:avLst/>
          </a:prstGeom>
          <a:solidFill>
            <a:srgbClr val="E5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42062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Failure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0915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ReAdjust.Run() - restores baseline camera settings on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093207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EditValueCamDiv3.Process() - tracks retry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77255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Black frame detection - reopens camera on hardware 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861303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* 3-second reopen cooldown - prevents hardware damage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1768</Words>
  <Application>Microsoft Office PowerPoint</Application>
  <PresentationFormat>Custom</PresentationFormat>
  <Paragraphs>333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Anocha Lhaoken</cp:lastModifiedBy>
  <cp:revision>3</cp:revision>
  <dcterms:created xsi:type="dcterms:W3CDTF">2013-01-27T09:14:16Z</dcterms:created>
  <dcterms:modified xsi:type="dcterms:W3CDTF">2026-06-03T11:21:27Z</dcterms:modified>
  <cp:category/>
</cp:coreProperties>
</file>